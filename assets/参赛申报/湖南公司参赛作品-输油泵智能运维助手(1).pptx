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0"/>
  </p:handoutMasterIdLst>
  <p:sldIdLst>
    <p:sldId id="259" r:id="rId3"/>
    <p:sldId id="302" r:id="rId4"/>
    <p:sldId id="278" r:id="rId6"/>
    <p:sldId id="304" r:id="rId7"/>
    <p:sldId id="309" r:id="rId8"/>
    <p:sldId id="329" r:id="rId9"/>
    <p:sldId id="310" r:id="rId10"/>
    <p:sldId id="312" r:id="rId11"/>
    <p:sldId id="313" r:id="rId12"/>
    <p:sldId id="330" r:id="rId13"/>
    <p:sldId id="316" r:id="rId14"/>
    <p:sldId id="311" r:id="rId15"/>
    <p:sldId id="331" r:id="rId16"/>
    <p:sldId id="315" r:id="rId17"/>
    <p:sldId id="317" r:id="rId18"/>
    <p:sldId id="320" r:id="rId19"/>
    <p:sldId id="321" r:id="rId20"/>
    <p:sldId id="322" r:id="rId21"/>
    <p:sldId id="323" r:id="rId22"/>
    <p:sldId id="332" r:id="rId23"/>
    <p:sldId id="324" r:id="rId24"/>
    <p:sldId id="325" r:id="rId25"/>
    <p:sldId id="326" r:id="rId26"/>
    <p:sldId id="333" r:id="rId27"/>
    <p:sldId id="327" r:id="rId28"/>
    <p:sldId id="303" r:id="rId2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941"/>
    <a:srgbClr val="0823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华文黑体" panose="02010600040101010101" charset="-122"/>
        <a:ea typeface="华文黑体" panose="02010600040101010101" charset="-122"/>
        <a:cs typeface="华文黑体" panose="0201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华文黑体" panose="02010600040101010101" charset="-122"/>
                <a:ea typeface="华文黑体" panose="02010600040101010101" charset="-122"/>
                <a:cs typeface="华文黑体" panose="02010600040101010101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黑体" panose="02010600040101010101" charset="-122"/>
          <a:ea typeface="华文黑体" panose="02010600040101010101" charset="-122"/>
          <a:cs typeface="华文黑体" panose="0201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microsoft.com/office/2007/relationships/hdphoto" Target="../media/image6.wdp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5.png"/><Relationship Id="rId2" Type="http://schemas.openxmlformats.org/officeDocument/2006/relationships/image" Target="../media/image5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image" Target="../media/image24.svg"/><Relationship Id="rId13" Type="http://schemas.openxmlformats.org/officeDocument/2006/relationships/image" Target="../media/image23.png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36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9.svg"/><Relationship Id="rId10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image" Target="../media/image43.svg"/><Relationship Id="rId13" Type="http://schemas.openxmlformats.org/officeDocument/2006/relationships/image" Target="../media/image42.png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svg"/><Relationship Id="rId8" Type="http://schemas.openxmlformats.org/officeDocument/2006/relationships/image" Target="../media/image50.png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2.jpe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7.png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svg"/><Relationship Id="rId8" Type="http://schemas.openxmlformats.org/officeDocument/2006/relationships/image" Target="../media/image62.png"/><Relationship Id="rId7" Type="http://schemas.openxmlformats.org/officeDocument/2006/relationships/image" Target="../media/image61.svg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5.svg"/><Relationship Id="rId10" Type="http://schemas.openxmlformats.org/officeDocument/2006/relationships/image" Target="../media/image6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svg"/><Relationship Id="rId8" Type="http://schemas.openxmlformats.org/officeDocument/2006/relationships/image" Target="../media/image70.png"/><Relationship Id="rId7" Type="http://schemas.openxmlformats.org/officeDocument/2006/relationships/image" Target="../media/image69.svg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76.png"/><Relationship Id="rId13" Type="http://schemas.openxmlformats.org/officeDocument/2006/relationships/image" Target="../media/image75.png"/><Relationship Id="rId12" Type="http://schemas.openxmlformats.org/officeDocument/2006/relationships/image" Target="../media/image74.png"/><Relationship Id="rId11" Type="http://schemas.openxmlformats.org/officeDocument/2006/relationships/image" Target="../media/image73.png"/><Relationship Id="rId10" Type="http://schemas.openxmlformats.org/officeDocument/2006/relationships/image" Target="../media/image7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svg"/><Relationship Id="rId8" Type="http://schemas.openxmlformats.org/officeDocument/2006/relationships/image" Target="../media/image81.png"/><Relationship Id="rId7" Type="http://schemas.openxmlformats.org/officeDocument/2006/relationships/image" Target="../media/image80.svg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svg"/><Relationship Id="rId8" Type="http://schemas.openxmlformats.org/officeDocument/2006/relationships/image" Target="../media/image88.png"/><Relationship Id="rId7" Type="http://schemas.openxmlformats.org/officeDocument/2006/relationships/image" Target="../media/image87.svg"/><Relationship Id="rId6" Type="http://schemas.openxmlformats.org/officeDocument/2006/relationships/image" Target="../media/image86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95.svg"/><Relationship Id="rId14" Type="http://schemas.openxmlformats.org/officeDocument/2006/relationships/image" Target="../media/image94.png"/><Relationship Id="rId13" Type="http://schemas.openxmlformats.org/officeDocument/2006/relationships/image" Target="../media/image93.svg"/><Relationship Id="rId12" Type="http://schemas.openxmlformats.org/officeDocument/2006/relationships/image" Target="../media/image92.png"/><Relationship Id="rId11" Type="http://schemas.openxmlformats.org/officeDocument/2006/relationships/image" Target="../media/image91.svg"/><Relationship Id="rId10" Type="http://schemas.openxmlformats.org/officeDocument/2006/relationships/image" Target="../media/image90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8.jpeg"/><Relationship Id="rId7" Type="http://schemas.openxmlformats.org/officeDocument/2006/relationships/image" Target="../media/image80.svg"/><Relationship Id="rId6" Type="http://schemas.openxmlformats.org/officeDocument/2006/relationships/image" Target="../media/image79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svg"/><Relationship Id="rId8" Type="http://schemas.openxmlformats.org/officeDocument/2006/relationships/image" Target="../media/image103.png"/><Relationship Id="rId7" Type="http://schemas.openxmlformats.org/officeDocument/2006/relationships/image" Target="../media/image102.svg"/><Relationship Id="rId6" Type="http://schemas.openxmlformats.org/officeDocument/2006/relationships/image" Target="../media/image101.png"/><Relationship Id="rId5" Type="http://schemas.openxmlformats.org/officeDocument/2006/relationships/image" Target="../media/image100.svg"/><Relationship Id="rId4" Type="http://schemas.openxmlformats.org/officeDocument/2006/relationships/image" Target="../media/image99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08.svg"/><Relationship Id="rId12" Type="http://schemas.openxmlformats.org/officeDocument/2006/relationships/image" Target="../media/image107.png"/><Relationship Id="rId11" Type="http://schemas.openxmlformats.org/officeDocument/2006/relationships/image" Target="../media/image106.svg"/><Relationship Id="rId10" Type="http://schemas.openxmlformats.org/officeDocument/2006/relationships/image" Target="../media/image10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microsoft.com/office/2007/relationships/hdphoto" Target="../media/image6.wdp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image" Target="../media/image5.png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er搜索：半想象现实   http://chn.docer.com/works/?userid=199927538"/>
          <p:cNvSpPr txBox="1"/>
          <p:nvPr/>
        </p:nvSpPr>
        <p:spPr>
          <a:xfrm>
            <a:off x="1760220" y="2089785"/>
            <a:ext cx="7009130" cy="9467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3000"/>
              </a:lnSpc>
              <a:buNone/>
              <a:def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>
                <a:sym typeface="Noto Sans SC" panose="020B0200000000000000" charset="-122"/>
              </a:rPr>
              <a:t>输油泵智能运维</a:t>
            </a:r>
            <a:r>
              <a:rPr lang="zh-CN" sz="5400">
                <a:sym typeface="Noto Sans SC" panose="020B0200000000000000" charset="-122"/>
              </a:rPr>
              <a:t>助手</a:t>
            </a:r>
            <a:endParaRPr lang="zh-CN" sz="5400">
              <a:sym typeface="Noto Sans SC" panose="020B0200000000000000" charset="-122"/>
            </a:endParaRPr>
          </a:p>
        </p:txBody>
      </p:sp>
      <p:sp>
        <p:nvSpPr>
          <p:cNvPr id="8" name="Docer搜索：半想象现实   http://chn.docer.com/works/?userid=199927538"/>
          <p:cNvSpPr txBox="1"/>
          <p:nvPr/>
        </p:nvSpPr>
        <p:spPr>
          <a:xfrm>
            <a:off x="1760220" y="3928110"/>
            <a:ext cx="6232525" cy="1303020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Id2"/>
                  <a:srcRect/>
                  <a:stretch>
                    <a:fillRect/>
                  </a:stretch>
                </a:blipFill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en-US" sz="2000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“泵智护” —— 以AI重塑运维，用数智守护能源动脉</a:t>
            </a:r>
            <a:endParaRPr lang="zh-CN" altLang="en-US" sz="20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Calibri" panose="020F0502020204030204" charset="0"/>
            </a:endParaRPr>
          </a:p>
          <a:p>
            <a:pPr lvl="0" algn="l">
              <a:lnSpc>
                <a:spcPct val="150000"/>
              </a:lnSpc>
              <a:defRPr/>
            </a:pPr>
            <a:endParaRPr lang="zh-CN" altLang="en-US" sz="20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Calibri" panose="020F0502020204030204" charset="0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团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队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名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称：</a:t>
            </a:r>
            <a:r>
              <a:rPr sz="2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管网数智先锋队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                                                               </a:t>
            </a:r>
            <a:endParaRPr lang="en-US" altLang="zh-CN" sz="20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Calibri" panose="020F0502020204030204" charset="0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团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队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成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员：肖伟、程青青、王佳、刘白杨、</a:t>
            </a:r>
            <a:r>
              <a:rPr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雷雨</a:t>
            </a:r>
            <a:r>
              <a:rPr lang="en-US" altLang="zh-CN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Calibri" panose="020F0502020204030204" charset="0"/>
              </a:rPr>
              <a:t>                                                                </a:t>
            </a:r>
            <a:endParaRPr lang="en-US" altLang="zh-CN" sz="20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  <a:sym typeface="Calibri" panose="020F050202020403020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941830" y="3617595"/>
            <a:ext cx="5400000" cy="107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-218440" y="57785"/>
            <a:ext cx="2402840" cy="779780"/>
            <a:chOff x="136" y="363"/>
            <a:chExt cx="3784" cy="122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>
              <a:fillRect/>
            </a:stretch>
          </p:blipFill>
          <p:spPr>
            <a:xfrm>
              <a:off x="136" y="363"/>
              <a:ext cx="2172" cy="119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4" b="654"/>
            <a:stretch>
              <a:fillRect/>
            </a:stretch>
          </p:blipFill>
          <p:spPr>
            <a:xfrm>
              <a:off x="1752" y="541"/>
              <a:ext cx="2168" cy="1050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8726170" y="1802130"/>
            <a:ext cx="2762250" cy="3429000"/>
            <a:chOff x="13742" y="2838"/>
            <a:chExt cx="4350" cy="54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1" name="圆角矩形 10"/>
            <p:cNvSpPr>
              <a:spLocks noGrp="1"/>
            </p:cNvSpPr>
            <p:nvPr/>
          </p:nvSpPr>
          <p:spPr>
            <a:xfrm>
              <a:off x="13742" y="2838"/>
              <a:ext cx="4350" cy="5400"/>
            </a:xfrm>
            <a:prstGeom prst="roundRect">
              <a:avLst>
                <a:gd name="adj" fmla="val 2759"/>
              </a:avLst>
            </a:prstGeom>
            <a:solidFill>
              <a:srgbClr val="FFFFFF">
                <a:alpha val="12000"/>
              </a:srgbClr>
            </a:solidFill>
            <a:ln w="19050">
              <a:solidFill>
                <a:srgbClr val="65C7FF"/>
              </a:solidFill>
              <a:prstDash val="solid"/>
            </a:ln>
          </p:spPr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14417" y="3663"/>
              <a:ext cx="3000" cy="3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lnSpc>
                  <a:spcPct val="150000"/>
                </a:lnSpc>
                <a:buNone/>
                <a:def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隐患识别</a:t>
              </a:r>
              <a:endPara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50000"/>
                </a:lnSpc>
                <a:buNone/>
                <a:def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风险研判</a:t>
              </a:r>
              <a:endPara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50000"/>
                </a:lnSpc>
                <a:buNone/>
                <a:def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智能处置</a:t>
              </a:r>
              <a:endPara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50000"/>
                </a:lnSpc>
                <a:buNone/>
                <a:def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台账归档</a:t>
              </a:r>
              <a:endPara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" name="矩形 12"/>
          <p:cNvSpPr>
            <a:spLocks noGrp="1"/>
          </p:cNvSpPr>
          <p:nvPr/>
        </p:nvSpPr>
        <p:spPr>
          <a:xfrm>
            <a:off x="723900" y="5867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BF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F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2026年6月</a:t>
            </a:r>
            <a:endParaRPr sz="1350" b="0">
              <a:solidFill>
                <a:srgbClr val="BF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目录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9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AutoShape 5"/>
          <p:cNvSpPr/>
          <p:nvPr/>
        </p:nvSpPr>
        <p:spPr>
          <a:xfrm>
            <a:off x="609600" y="1651000"/>
            <a:ext cx="5334000" cy="1460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255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57030">
            <a:off x="1270000" y="2343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AutoShape 9"/>
          <p:cNvSpPr/>
          <p:nvPr/>
        </p:nvSpPr>
        <p:spPr>
          <a:xfrm>
            <a:off x="1968500" y="1778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项目概述与愿景</a:t>
            </a:r>
            <a:endParaRPr lang="en-US" sz="1100"/>
          </a:p>
        </p:txBody>
      </p:sp>
      <p:sp>
        <p:nvSpPr>
          <p:cNvPr id="4" name="AutoShape 10"/>
          <p:cNvSpPr/>
          <p:nvPr/>
        </p:nvSpPr>
        <p:spPr>
          <a:xfrm>
            <a:off x="1968500" y="2286000"/>
            <a:ext cx="374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立足工业泵运维领域，明确项目建设背景与发展初衷，勾勒智慧化升级的长远愿景，为行业转型树立清晰方向。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1651000"/>
            <a:ext cx="5334000" cy="1460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484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13"/>
          <p:cNvSpPr/>
          <p:nvPr/>
        </p:nvSpPr>
        <p:spPr>
          <a:xfrm>
            <a:off x="64643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24" name="Connector 14"/>
          <p:cNvCxnSpPr/>
          <p:nvPr/>
        </p:nvCxnSpPr>
        <p:spPr>
          <a:xfrm rot="5357030">
            <a:off x="6908800" y="2343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15"/>
          <p:cNvSpPr/>
          <p:nvPr/>
        </p:nvSpPr>
        <p:spPr>
          <a:xfrm>
            <a:off x="7607300" y="1778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行业痛点与挑战</a:t>
            </a:r>
            <a:endParaRPr lang="en-US" sz="1100"/>
          </a:p>
        </p:txBody>
      </p:sp>
      <p:sp>
        <p:nvSpPr>
          <p:cNvPr id="28" name="AutoShape 16"/>
          <p:cNvSpPr/>
          <p:nvPr/>
        </p:nvSpPr>
        <p:spPr>
          <a:xfrm>
            <a:off x="7607300" y="2286000"/>
            <a:ext cx="374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深度剖析传统泵运维中人工巡检难、故障预警滞后、维护成本高等核心痛点，聚焦行业亟待解决的现实难题。</a:t>
            </a:r>
            <a:endParaRPr lang="en-US" sz="1100"/>
          </a:p>
        </p:txBody>
      </p:sp>
      <p:sp>
        <p:nvSpPr>
          <p:cNvPr id="29" name="AutoShape 17"/>
          <p:cNvSpPr/>
          <p:nvPr/>
        </p:nvSpPr>
        <p:spPr>
          <a:xfrm>
            <a:off x="609600" y="3365500"/>
            <a:ext cx="5334000" cy="1460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18"/>
          <p:cNvSpPr/>
          <p:nvPr/>
        </p:nvSpPr>
        <p:spPr>
          <a:xfrm>
            <a:off x="609600" y="3365500"/>
            <a:ext cx="762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19"/>
          <p:cNvSpPr/>
          <p:nvPr/>
        </p:nvSpPr>
        <p:spPr>
          <a:xfrm>
            <a:off x="825500" y="3492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34" name="Connector 20"/>
          <p:cNvCxnSpPr/>
          <p:nvPr/>
        </p:nvCxnSpPr>
        <p:spPr>
          <a:xfrm rot="5357030">
            <a:off x="1270000" y="4057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21"/>
          <p:cNvSpPr/>
          <p:nvPr/>
        </p:nvSpPr>
        <p:spPr>
          <a:xfrm>
            <a:off x="19685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“泵智护”解决方案</a:t>
            </a:r>
            <a:endParaRPr lang="en-US" sz="1100"/>
          </a:p>
        </p:txBody>
      </p:sp>
      <p:sp>
        <p:nvSpPr>
          <p:cNvPr id="36" name="AutoShape 22"/>
          <p:cNvSpPr/>
          <p:nvPr/>
        </p:nvSpPr>
        <p:spPr>
          <a:xfrm>
            <a:off x="1968500" y="4000500"/>
            <a:ext cx="374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整合物联网、传感器与云平台技术，构建“监测-预警-诊断-维护”一体化智能体系，实现泵设备全生命周期管理。</a:t>
            </a:r>
            <a:endParaRPr lang="en-US" sz="1100"/>
          </a:p>
        </p:txBody>
      </p:sp>
      <p:sp>
        <p:nvSpPr>
          <p:cNvPr id="37" name="AutoShape 23"/>
          <p:cNvSpPr/>
          <p:nvPr/>
        </p:nvSpPr>
        <p:spPr>
          <a:xfrm>
            <a:off x="6248400" y="3365500"/>
            <a:ext cx="5334000" cy="1460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24"/>
          <p:cNvSpPr/>
          <p:nvPr/>
        </p:nvSpPr>
        <p:spPr>
          <a:xfrm>
            <a:off x="6248400" y="3365500"/>
            <a:ext cx="762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25"/>
          <p:cNvSpPr/>
          <p:nvPr/>
        </p:nvSpPr>
        <p:spPr>
          <a:xfrm>
            <a:off x="6464300" y="3492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40" name="Connector 26"/>
          <p:cNvCxnSpPr/>
          <p:nvPr/>
        </p:nvCxnSpPr>
        <p:spPr>
          <a:xfrm rot="5357030">
            <a:off x="6908800" y="4057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" name="AutoShape 27"/>
          <p:cNvSpPr/>
          <p:nvPr/>
        </p:nvSpPr>
        <p:spPr>
          <a:xfrm>
            <a:off x="76073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en-US" sz="1100"/>
          </a:p>
        </p:txBody>
      </p:sp>
      <p:sp>
        <p:nvSpPr>
          <p:cNvPr id="42" name="AutoShape 28"/>
          <p:cNvSpPr/>
          <p:nvPr/>
        </p:nvSpPr>
        <p:spPr>
          <a:xfrm>
            <a:off x="7607300" y="4000500"/>
            <a:ext cx="374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依托边缘计算、AI故障诊断算法等核心技术，打造低延迟、高精度的监测能力，形成技术壁垒与差异化竞争优势。</a:t>
            </a:r>
            <a:endParaRPr lang="en-US" sz="1100"/>
          </a:p>
        </p:txBody>
      </p:sp>
      <p:sp>
        <p:nvSpPr>
          <p:cNvPr id="43" name="AutoShape 29"/>
          <p:cNvSpPr/>
          <p:nvPr/>
        </p:nvSpPr>
        <p:spPr>
          <a:xfrm>
            <a:off x="609600" y="5080000"/>
            <a:ext cx="5334000" cy="1460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30"/>
          <p:cNvSpPr/>
          <p:nvPr/>
        </p:nvSpPr>
        <p:spPr>
          <a:xfrm>
            <a:off x="6096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31"/>
          <p:cNvSpPr/>
          <p:nvPr/>
        </p:nvSpPr>
        <p:spPr>
          <a:xfrm>
            <a:off x="825500" y="520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46" name="Connector 32"/>
          <p:cNvCxnSpPr/>
          <p:nvPr/>
        </p:nvCxnSpPr>
        <p:spPr>
          <a:xfrm rot="5357030">
            <a:off x="1270000" y="5772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7" name="AutoShape 33"/>
          <p:cNvSpPr/>
          <p:nvPr/>
        </p:nvSpPr>
        <p:spPr>
          <a:xfrm>
            <a:off x="1968500" y="5207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价值成效与应用前景</a:t>
            </a:r>
            <a:endParaRPr lang="en-US" sz="1100"/>
          </a:p>
        </p:txBody>
      </p:sp>
      <p:sp>
        <p:nvSpPr>
          <p:cNvPr id="48" name="AutoShape 34"/>
          <p:cNvSpPr/>
          <p:nvPr/>
        </p:nvSpPr>
        <p:spPr>
          <a:xfrm>
            <a:off x="1968500" y="5715000"/>
            <a:ext cx="374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从降本增效、安全保障等维度量化项目价值，结合市场需求分析，展望方案在石化、水务等多行业的规模化应用前景。</a:t>
            </a:r>
            <a:endParaRPr lang="en-US" sz="1100"/>
          </a:p>
        </p:txBody>
      </p:sp>
      <p:sp>
        <p:nvSpPr>
          <p:cNvPr id="49" name="AutoShape 35"/>
          <p:cNvSpPr/>
          <p:nvPr/>
        </p:nvSpPr>
        <p:spPr>
          <a:xfrm>
            <a:off x="6248400" y="5080000"/>
            <a:ext cx="5334000" cy="1460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36"/>
          <p:cNvSpPr/>
          <p:nvPr/>
        </p:nvSpPr>
        <p:spPr>
          <a:xfrm>
            <a:off x="62484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37"/>
          <p:cNvSpPr/>
          <p:nvPr/>
        </p:nvSpPr>
        <p:spPr>
          <a:xfrm>
            <a:off x="6464300" y="520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52" name="Connector 38"/>
          <p:cNvCxnSpPr/>
          <p:nvPr/>
        </p:nvCxnSpPr>
        <p:spPr>
          <a:xfrm rot="5357030">
            <a:off x="6908800" y="5772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" name="AutoShape 39"/>
          <p:cNvSpPr/>
          <p:nvPr/>
        </p:nvSpPr>
        <p:spPr>
          <a:xfrm>
            <a:off x="7607300" y="5207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  <a:endParaRPr lang="en-US" sz="1100"/>
          </a:p>
        </p:txBody>
      </p:sp>
      <p:sp>
        <p:nvSpPr>
          <p:cNvPr id="54" name="AutoShape 40"/>
          <p:cNvSpPr/>
          <p:nvPr/>
        </p:nvSpPr>
        <p:spPr>
          <a:xfrm>
            <a:off x="7607300" y="5715000"/>
            <a:ext cx="374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汇聚机械工程、物联网、人工智能等领域的专业人才，拥有丰富的行业实战经验与技术研发能力，为项目落地提供坚实支撑。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1</a:t>
              </a:r>
              <a:endParaRPr lang="en-US" altLang="zh-CN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8"/>
          <p:cNvSpPr/>
          <p:nvPr/>
        </p:nvSpPr>
        <p:spPr>
          <a:xfrm>
            <a:off x="4650105" y="296926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项目概述与愿景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50105" y="4673600"/>
            <a:ext cx="571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足当下核心业务场景，锚定未来行业发展趋势，以技术创新驱动价值创造。我们致力于构建高效、可持续的解决方案体系，为用户创造极致体验，为合作伙伴开拓共赢生态，实现商业价值与社会价值的深度融合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3701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项目概况与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愿景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" name="AutoShape 3"/>
          <p:cNvSpPr/>
          <p:nvPr/>
        </p:nvSpPr>
        <p:spPr>
          <a:xfrm>
            <a:off x="762000" y="1372235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泵智护” —— 专为国家管网集团打造的输油泵智能运维 AI 数智员工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762000" y="3023235"/>
            <a:ext cx="330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3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404235"/>
            <a:ext cx="457200" cy="457200"/>
          </a:xfrm>
          <a:prstGeom prst="rect">
            <a:avLst/>
          </a:prstGeom>
        </p:spPr>
      </p:pic>
      <p:sp>
        <p:nvSpPr>
          <p:cNvPr id="44" name="AutoShape 6"/>
          <p:cNvSpPr/>
          <p:nvPr/>
        </p:nvSpPr>
        <p:spPr>
          <a:xfrm>
            <a:off x="1651000" y="3429635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多源数据深度融合</a:t>
            </a:r>
            <a:endParaRPr lang="en-US" sz="1100"/>
          </a:p>
        </p:txBody>
      </p:sp>
      <p:sp>
        <p:nvSpPr>
          <p:cNvPr id="45" name="AutoShape 7"/>
          <p:cNvSpPr/>
          <p:nvPr/>
        </p:nvSpPr>
        <p:spPr>
          <a:xfrm>
            <a:off x="1066800" y="4039235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打通设备、工况、历史档案等异构数据壁垒，构建全景化输油泵运行数据底座。</a:t>
            </a:r>
            <a:endParaRPr lang="en-US" sz="1100"/>
          </a:p>
        </p:txBody>
      </p:sp>
      <p:sp>
        <p:nvSpPr>
          <p:cNvPr id="46" name="AutoShape 8"/>
          <p:cNvSpPr/>
          <p:nvPr/>
        </p:nvSpPr>
        <p:spPr>
          <a:xfrm>
            <a:off x="4445000" y="3023235"/>
            <a:ext cx="330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7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800" y="3404235"/>
            <a:ext cx="457200" cy="457200"/>
          </a:xfrm>
          <a:prstGeom prst="rect">
            <a:avLst/>
          </a:prstGeom>
        </p:spPr>
      </p:pic>
      <p:sp>
        <p:nvSpPr>
          <p:cNvPr id="48" name="AutoShape 10"/>
          <p:cNvSpPr/>
          <p:nvPr/>
        </p:nvSpPr>
        <p:spPr>
          <a:xfrm>
            <a:off x="5334000" y="3429635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AI算法创新驱动</a:t>
            </a:r>
            <a:endParaRPr lang="en-US" sz="1100"/>
          </a:p>
        </p:txBody>
      </p:sp>
      <p:sp>
        <p:nvSpPr>
          <p:cNvPr id="49" name="AutoShape 11"/>
          <p:cNvSpPr/>
          <p:nvPr/>
        </p:nvSpPr>
        <p:spPr>
          <a:xfrm>
            <a:off x="4749800" y="4039235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以创新AI模型精准捕捉设备劣化趋势，实现运维模式从“被动响应”向“主动预测”的质变。</a:t>
            </a:r>
            <a:endParaRPr lang="en-US" sz="1100"/>
          </a:p>
        </p:txBody>
      </p:sp>
      <p:sp>
        <p:nvSpPr>
          <p:cNvPr id="50" name="AutoShape 12"/>
          <p:cNvSpPr/>
          <p:nvPr/>
        </p:nvSpPr>
        <p:spPr>
          <a:xfrm>
            <a:off x="8128000" y="3023235"/>
            <a:ext cx="3302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1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2800" y="3404235"/>
            <a:ext cx="457200" cy="457200"/>
          </a:xfrm>
          <a:prstGeom prst="rect">
            <a:avLst/>
          </a:prstGeom>
        </p:spPr>
      </p:pic>
      <p:sp>
        <p:nvSpPr>
          <p:cNvPr id="52" name="AutoShape 14"/>
          <p:cNvSpPr/>
          <p:nvPr/>
        </p:nvSpPr>
        <p:spPr>
          <a:xfrm>
            <a:off x="9017000" y="3429635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业务流程标准化</a:t>
            </a:r>
            <a:endParaRPr lang="en-US" sz="1100"/>
          </a:p>
        </p:txBody>
      </p:sp>
      <p:sp>
        <p:nvSpPr>
          <p:cNvPr id="53" name="AutoShape 15"/>
          <p:cNvSpPr/>
          <p:nvPr/>
        </p:nvSpPr>
        <p:spPr>
          <a:xfrm>
            <a:off x="8432800" y="4039235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将专家经验沉淀为标准化数智流程，筑牢国家能源大动脉安全稳定运行的坚实屏障。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30816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  <a:sym typeface="+mn-ea"/>
              </a:rPr>
              <a:t>项目概况与愿景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项目愿景：构建新质生产力，赋能智慧管网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52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641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战略定位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6195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全面贯彻集团公司生产运维第二次“三湾改编”要求，聚焦生产运维产业升级与新质生产力构建，锚定行业发展新方向，夯实转型发展根基。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286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52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32400" y="2641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626">
            <a:off x="4699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36195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推动输油泵运维管理向专业化、集约化、智能化转型，以技术创新驱动管理升级，全力打造能源行业设备智能运维领域的标杆与典范。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2286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52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2667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15400" y="2641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长远愿景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626">
            <a:off x="8382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36195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成为集团公司乃至整个能源行业的设备健康管理核心引擎，以硬核技术筑牢安全屏障，切实保障国家能源战略通道的绝对安全与稳定运行。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032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以技术创新为驱动，以安全保障为底线，通过全生命周期的设备智能管理，为智慧管网建设注入源源不断的新质生产力。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2</a:t>
              </a:r>
              <a:endParaRPr lang="en-US" altLang="zh-CN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8"/>
          <p:cNvSpPr/>
          <p:nvPr/>
        </p:nvSpPr>
        <p:spPr>
          <a:xfrm>
            <a:off x="4650105" y="296926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行业痛点与</a:t>
            </a:r>
            <a:r>
              <a:rPr lang="zh-CN" alt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挑战</a:t>
            </a:r>
            <a:endParaRPr lang="zh-CN" altLang="en-US" sz="4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50105" y="4496435"/>
            <a:ext cx="571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深度剖析当前行业发展进程中面临的核心困境，直面技术瓶颈、市场壁垒与运营难题，为后续探寻破局路径与创新方向奠定现实基础。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12446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行业痛点与挑战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918200" y="1143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行业痛点：国家能源动脉的“隐形风险”</a:t>
            </a:r>
            <a:endParaRPr lang="en-US" sz="2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876290" y="1778000"/>
            <a:ext cx="584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油泵作为成品油与原油管网的核心动设备，其运行可靠性是国家能源大动脉安全稳定的基石。然而，当前传统的运维管理模式已难以适配规模化、复杂化的管网需求，诸多隐蔽性问题逐渐凸显，成为制约管网高效运行的核心瓶颈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842000" y="3937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/>
          </a:p>
        </p:txBody>
      </p:sp>
      <p:sp>
        <p:nvSpPr>
          <p:cNvPr id="8" name="AutoShape 8"/>
          <p:cNvSpPr/>
          <p:nvPr/>
        </p:nvSpPr>
        <p:spPr>
          <a:xfrm>
            <a:off x="5800090" y="393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/>
          </a:p>
        </p:txBody>
      </p:sp>
      <p:sp>
        <p:nvSpPr>
          <p:cNvPr id="9" name="AutoShape 9"/>
          <p:cNvSpPr/>
          <p:nvPr/>
        </p:nvSpPr>
        <p:spPr>
          <a:xfrm>
            <a:off x="6159500" y="4064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1558</a:t>
            </a: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台</a:t>
            </a:r>
            <a:endParaRPr lang="en-US" sz="1100" b="1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集团公司在役主泵总量，每一台都是能源输送的“心脏”，微小异常即可能引发系统性风险。</a:t>
            </a:r>
            <a:endParaRPr lang="en-US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42000" y="56515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传统运维手段的滞后性，使得这些关键设备长期处于“亚健康”运行状态，亟需技术革新来化解潜在的安全隐患。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1579245"/>
            <a:ext cx="4199255" cy="15233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395" y="4304030"/>
            <a:ext cx="4199255" cy="14249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3441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四大核心痛点之一：监测诊断能力严重不足</a:t>
            </a:r>
            <a:endParaRPr lang="en-US" sz="3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4"/>
            </p:custDataLst>
          </p:nvPr>
        </p:nvSpPr>
        <p:spPr>
          <a:xfrm>
            <a:off x="762000" y="1905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8"/>
            </p:custDataLst>
          </p:nvPr>
        </p:nvSpPr>
        <p:spPr>
          <a:xfrm>
            <a:off x="1524000" y="20828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数据孤岛：绝大多数设备处于“黑盒”状态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9"/>
            </p:custDataLst>
          </p:nvPr>
        </p:nvCxnSpPr>
        <p:spPr>
          <a:xfrm rot="-9046">
            <a:off x="1016008" y="2635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10"/>
            </p:custDataLst>
          </p:nvPr>
        </p:nvSpPr>
        <p:spPr>
          <a:xfrm>
            <a:off x="1016000" y="27686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1558台机组中，仅</a:t>
            </a: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128台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实现频谱分析数据接入，接入率仅</a:t>
            </a: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8.2%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。无法对设备进行实时、深度的健康状态评估，隐患难以被及时发现。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762000" y="4318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450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5"/>
            </p:custDataLst>
          </p:nvPr>
        </p:nvSpPr>
        <p:spPr>
          <a:xfrm>
            <a:off x="1524000" y="44958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历史缺失：缺乏标准化故障知识体系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6"/>
            </p:custDataLst>
          </p:nvPr>
        </p:nvCxnSpPr>
        <p:spPr>
          <a:xfrm rot="-9046">
            <a:off x="1016008" y="5048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7"/>
            </p:custDataLst>
          </p:nvPr>
        </p:nvSpPr>
        <p:spPr>
          <a:xfrm>
            <a:off x="1016000" y="51816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现有管理中缺乏系统性的故障案例数据库，故障诊断高度依赖技术人员的个人经验积累，无法形成可复用、可传承的标准化诊断流程，导致诊断效率低、准确性差。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8"/>
            </p:custDataLst>
          </p:nvPr>
        </p:nvCxnSpPr>
        <p:spPr>
          <a:xfrm rot="5390035">
            <a:off x="4159250" y="40894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5435600"/>
            <a:ext cx="4826000" cy="889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731000" y="5524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接入率的极度低下直接导致了设备全生命周期数据的断层，不仅无法支撑预测性维护，更埋下了重大安全隐患。</a:t>
            </a:r>
            <a:endParaRPr lang="en-US" sz="110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6604000" y="1909445"/>
            <a:ext cx="4827270" cy="3196590"/>
          </a:xfrm>
          <a:prstGeom prst="rect">
            <a:avLst/>
          </a:prstGeom>
        </p:spPr>
      </p:pic>
      <p:sp>
        <p:nvSpPr>
          <p:cNvPr id="19" name="Docer搜索：半想象现实   http://chn.docer.com/works/?userid=199927538"/>
          <p:cNvSpPr txBox="1"/>
          <p:nvPr/>
        </p:nvSpPr>
        <p:spPr>
          <a:xfrm>
            <a:off x="648335" y="12446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行业痛点与挑战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95375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四大核心痛点：制约运维水平的“绊脚石</a:t>
            </a:r>
            <a:r>
              <a:rPr lang="en-US" sz="2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2600" b="1" i="0" u="none" strike="noStrike">
              <a:solidFill>
                <a:srgbClr val="11182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36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24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运维模式滞后，被动响应</a:t>
            </a:r>
            <a:endParaRPr lang="en-US" sz="1600" b="1" i="0" u="none" strike="noStrike">
              <a:solidFill>
                <a:srgbClr val="11182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29400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2004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“救火式”维修为主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仍依赖“周期性维护”和“故障后维修”，缺乏有效的预测性维护手段，难以防患于未然。</a:t>
            </a:r>
            <a:endParaRPr lang="en-US" sz="1100" b="1"/>
          </a:p>
        </p:txBody>
      </p:sp>
      <p:cxnSp>
        <p:nvCxnSpPr>
          <p:cNvPr id="9" name="Connector 9"/>
          <p:cNvCxnSpPr/>
          <p:nvPr/>
        </p:nvCxnSpPr>
        <p:spPr>
          <a:xfrm rot="-15626">
            <a:off x="1016014" y="469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突发故障成本高昂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非计划停机和紧急抢修不仅造成巨大经济损失，更带来难以估量的生产安全风险。</a:t>
            </a:r>
            <a:endParaRPr lang="en-US" sz="1100" b="1"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336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324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数字化承载能力不足</a:t>
            </a:r>
            <a:endParaRPr lang="en-US" sz="1600" b="1" i="0" u="none" strike="noStrike">
              <a:solidFill>
                <a:srgbClr val="11182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5626">
            <a:off x="4699014" y="29400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32004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系统割裂，数据不通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IMS系统缺少统一的输油泵单元模型，无法实现设备从采购到报废的全生命周期数据贯通。</a:t>
            </a:r>
            <a:endParaRPr lang="en-US" sz="1100" b="1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4699014" y="469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99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信息断层，决策无据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关键历史维修记录部分缺失，导致维修策略的制定缺乏科学、完整的数据支撑。</a:t>
            </a:r>
            <a:endParaRPr lang="en-US" sz="1100" b="1"/>
          </a:p>
        </p:txBody>
      </p:sp>
      <p:sp>
        <p:nvSpPr>
          <p:cNvPr id="18" name="AutoShape 18"/>
          <p:cNvSpPr/>
          <p:nvPr/>
        </p:nvSpPr>
        <p:spPr>
          <a:xfrm>
            <a:off x="8128000" y="2032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23368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0" y="2324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资源与能力配置不均</a:t>
            </a:r>
            <a:endParaRPr lang="en-US" sz="1600" b="1" i="0" u="none" strike="noStrike">
              <a:solidFill>
                <a:srgbClr val="11182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15626">
            <a:off x="8382014" y="29400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82000" y="32004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品牌繁杂，管理困难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输油泵品牌型号众多且差异大，对备件储备管理、人员专业技能培训提出了极高要求。</a:t>
            </a:r>
            <a:endParaRPr lang="en-US" sz="1100" b="1"/>
          </a:p>
        </p:txBody>
      </p:sp>
      <p:cxnSp>
        <p:nvCxnSpPr>
          <p:cNvPr id="23" name="Connector 23"/>
          <p:cNvCxnSpPr/>
          <p:nvPr/>
        </p:nvCxnSpPr>
        <p:spPr>
          <a:xfrm rot="-15626">
            <a:off x="8382014" y="469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382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能力参差，经验难传</a:t>
            </a:r>
            <a:b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各单位运维能力参差不齐，优秀的现场经验和专家知识难以沉淀，无法在集团内有效共享推广。</a:t>
            </a:r>
            <a:endParaRPr lang="en-US" sz="1100" b="1"/>
          </a:p>
        </p:txBody>
      </p:sp>
      <p:sp>
        <p:nvSpPr>
          <p:cNvPr id="2" name="Docer搜索：半想象现实   http://chn.docer.com/works/?userid=199927538"/>
          <p:cNvSpPr txBox="1"/>
          <p:nvPr/>
        </p:nvSpPr>
        <p:spPr>
          <a:xfrm>
            <a:off x="648335" y="124460"/>
            <a:ext cx="3582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行业痛点与挑战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3</a:t>
              </a:r>
              <a:endParaRPr lang="en-US" altLang="zh-CN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8"/>
          <p:cNvSpPr/>
          <p:nvPr/>
        </p:nvSpPr>
        <p:spPr>
          <a:xfrm>
            <a:off x="4650105" y="296926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“泵智护”解决方案</a:t>
            </a:r>
            <a:endParaRPr lang="zh-CN" altLang="en-US" sz="4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50105" y="4491355"/>
            <a:ext cx="571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以AI驱动的智能算法为核心，融合物联网实时监测技术，为工业泵体提供全生命周期的健康管理与预测性维护，实现从“被动维修”到“主动防护”的数字化转型。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“泵智护”解决方案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94361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“泵智护”总体架构：“三链融合”的AI原生设计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泵智护”以</a:t>
            </a:r>
            <a:r>
              <a:rPr lang="zh-CN" alt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输油泵智能助手</a:t>
            </a: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为核心，深度融合业务链、数据链、角色链，构建四层AI架构，实现输油泵运维全生命周期的智能化管理。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89000" y="3048000"/>
            <a:ext cx="508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330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32385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31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交互呈现层 (Interface)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面向管理、技术、一线运维等三级角色，提供千人千面的定制化交互界面，实现信息的精准触达与高效协同。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048000"/>
            <a:ext cx="508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30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32385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31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业务自动流转层 (Nerves)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将专业分析能力封装为标准化Skill，驱动告警、诊断、处置、闭环的全流程自动化流转，大幅降低人工介入成本。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89000" y="51435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5397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5270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31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AI核心引擎层 (Brain)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融合振动频谱特征提取与多维度AI算法，构建“专家规则+深度学习”的双层推理逻辑，保障诊断准确性。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51435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39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5270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31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感知与数据融合层 (Foundation)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统一对接设备、环境、业务、知识库四大核心数据源，打破数据孤岛，夯实数据底座。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331720" y="838200"/>
            <a:ext cx="876490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架构详解：感知与数据融合层 &amp; AI核心引擎层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703955" y="406654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571500" y="1905000"/>
            <a:ext cx="50800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133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206500" y="209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感知与数据融合层 (Foundation)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9"/>
            </p:custDataLst>
          </p:nvPr>
        </p:nvCxnSpPr>
        <p:spPr>
          <a:xfrm rot="-9291">
            <a:off x="762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762000" y="2730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统一汇聚关键设备智能监测平台、IMS机组档案、PI工艺参数及供应链备件信息四大核心数据源；采用“有线+无线”双模采集方案，彻底消除生产现场的数据监测盲区，实现全域数据的实时融合。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71500" y="4318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94A3B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" y="4546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1206500" y="450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AI核心引擎层 (Brain)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6"/>
            </p:custDataLst>
          </p:nvPr>
        </p:nvCxnSpPr>
        <p:spPr>
          <a:xfrm rot="-9291">
            <a:off x="762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762000" y="514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融合振动频谱特征提取与AI双层推理逻辑，构建“故障诊断+早期预警”双模型体系。基于历史故障数据集训练的深度模型，既能快速精准定位机械故障根源，又能对设备健康状态进行持续性评估与风险预警。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Docer搜索：半想象现实   http://chn.docer.com/works/?userid=199927538"/>
          <p:cNvSpPr txBox="1"/>
          <p:nvPr/>
        </p:nvSpPr>
        <p:spPr>
          <a:xfrm>
            <a:off x="648335" y="210820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“泵智护”解决方案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sp>
        <p:nvSpPr>
          <p:cNvPr id="19" name="AutoShape 4"/>
          <p:cNvSpPr/>
          <p:nvPr/>
        </p:nvSpPr>
        <p:spPr>
          <a:xfrm>
            <a:off x="6037580" y="1908810"/>
            <a:ext cx="5842000" cy="2156460"/>
          </a:xfrm>
          <a:prstGeom prst="roundRect">
            <a:avLst>
              <a:gd name="adj" fmla="val 0"/>
            </a:avLst>
          </a:prstGeom>
          <a:solidFill>
            <a:srgbClr val="192941"/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6"/>
          <p:cNvSpPr/>
          <p:nvPr/>
        </p:nvSpPr>
        <p:spPr>
          <a:xfrm>
            <a:off x="6291580" y="2044700"/>
            <a:ext cx="5334000" cy="368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业务自动流转层 (Nerves)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系统的“神经中枢”</a:t>
            </a:r>
            <a:endParaRPr lang="en-US" sz="1100"/>
          </a:p>
        </p:txBody>
      </p:sp>
      <p:cxnSp>
        <p:nvCxnSpPr>
          <p:cNvPr id="22" name="Connector 7"/>
          <p:cNvCxnSpPr/>
          <p:nvPr/>
        </p:nvCxnSpPr>
        <p:spPr>
          <a:xfrm flipV="1">
            <a:off x="6291588" y="2599690"/>
            <a:ext cx="5381625" cy="317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8"/>
          <p:cNvSpPr/>
          <p:nvPr/>
        </p:nvSpPr>
        <p:spPr>
          <a:xfrm>
            <a:off x="6291580" y="2679700"/>
            <a:ext cx="2540000" cy="1228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能力封装与复用</a:t>
            </a:r>
            <a:br>
              <a:rPr lang="en-US" sz="13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将核心分析能力拆解为标准化Skill单元，统一纳入集团AI能力库，实现技术资产的沉淀与灵活调用。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9"/>
          <p:cNvSpPr/>
          <p:nvPr/>
        </p:nvSpPr>
        <p:spPr>
          <a:xfrm>
            <a:off x="9085580" y="2679700"/>
            <a:ext cx="2540000" cy="1228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全流程自动化闭环</a:t>
            </a:r>
            <a:br>
              <a:rPr lang="en-US" sz="13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打通IMS、供应链与HSE系统，构建从智能预警到工单生成、备件调度及作业许可的端到端自动流转。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0"/>
          <p:cNvSpPr/>
          <p:nvPr/>
        </p:nvSpPr>
        <p:spPr>
          <a:xfrm>
            <a:off x="6037580" y="4317365"/>
            <a:ext cx="5842000" cy="2033270"/>
          </a:xfrm>
          <a:prstGeom prst="roundRect">
            <a:avLst>
              <a:gd name="adj" fmla="val 0"/>
            </a:avLst>
          </a:prstGeom>
          <a:solidFill>
            <a:srgbClr val="192941"/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2" name="AutoShape 12"/>
          <p:cNvSpPr/>
          <p:nvPr/>
        </p:nvSpPr>
        <p:spPr>
          <a:xfrm>
            <a:off x="6291580" y="44704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交互呈现层 (Interface) —— 角色化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精准服务</a:t>
            </a:r>
            <a:endParaRPr lang="en-US" sz="1100"/>
          </a:p>
        </p:txBody>
      </p:sp>
      <p:cxnSp>
        <p:nvCxnSpPr>
          <p:cNvPr id="33" name="Connector 13"/>
          <p:cNvCxnSpPr/>
          <p:nvPr/>
        </p:nvCxnSpPr>
        <p:spPr>
          <a:xfrm rot="-8185">
            <a:off x="6339213" y="50101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14"/>
          <p:cNvSpPr/>
          <p:nvPr/>
        </p:nvSpPr>
        <p:spPr>
          <a:xfrm>
            <a:off x="6291580" y="4995545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诊断专家端</a:t>
            </a:r>
            <a:b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提供多维深度分析报告，支持复杂故障的根因定位与策略制定，赋能专家高效决策。</a:t>
            </a:r>
            <a:endParaRPr lang="en-US" sz="11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5"/>
          <p:cNvSpPr/>
          <p:nvPr/>
        </p:nvSpPr>
        <p:spPr>
          <a:xfrm>
            <a:off x="8133080" y="4995545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监视中心端</a:t>
            </a:r>
            <a:b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实时接收全域预警推送，获取系统智能处置建议，统筹调度现场资源，把控整体态势。</a:t>
            </a:r>
            <a:endParaRPr lang="en-US" sz="11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16"/>
          <p:cNvSpPr/>
          <p:nvPr/>
        </p:nvSpPr>
        <p:spPr>
          <a:xfrm>
            <a:off x="9974580" y="4995545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作业区端</a:t>
            </a:r>
            <a:b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移动端接收标准化作业卡与指导书，执行操作并反馈结果，形成现场作业的完整闭环。</a:t>
            </a:r>
            <a:endParaRPr lang="en-US" sz="11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4</a:t>
              </a:r>
              <a:endParaRPr lang="en-US" altLang="zh-CN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8"/>
          <p:cNvSpPr/>
          <p:nvPr/>
        </p:nvSpPr>
        <p:spPr>
          <a:xfrm>
            <a:off x="4650105" y="296926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50105" y="4525010"/>
            <a:ext cx="571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聚焦技术底层突破，构建全链路创新壁垒。以核心算法为驱动，融合前沿技术应用场景，实现产品性能与用户价值的双重飞跃，确立行业领先的技术竞争优势。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151765"/>
            <a:ext cx="51257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88519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核心功能：一站式智能运维平台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606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22500"/>
            <a:ext cx="4165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智能监测与预警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11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多维度实时监测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全天候采集振动、温度、压力、阀位及流量等关键运行参数，构建设备状态全景视图，确保无死角覆盖。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381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深度诊断与早期预警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利用高精度传感器开展频谱分析，精准识别机械故障隐患；基于输油泵本体异常检测模型，实现故障风险提前72小时预警。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207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5207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60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2222500"/>
            <a:ext cx="4165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故障诊断与溯源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3111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智能匹配定位根因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系统依托完善的典型故障特征库，通过数据相似度匹配，快速分析异常成因，自动输出针对性排查方向，大幅缩短故障定位时间。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4381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专家经验模型化赋能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将行业专家的隐性经验转化为标准化、机器可识别的诊断模型，沉淀技术资产，有效降低运维工作对个人经验的过度依赖。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969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60579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通过“监测-预警-诊断-溯源”全链路闭环，实现从被动维修到主动运维的根本性转变，保障设备长期稳定高效运行。</a:t>
            </a:r>
            <a:endParaRPr lang="en-US" sz="11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762000" y="88519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核心功能：一站式智能运维平台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2039620"/>
            <a:ext cx="355600" cy="355600"/>
          </a:xfrm>
          <a:prstGeom prst="rect">
            <a:avLst/>
          </a:prstGeom>
        </p:spPr>
      </p:pic>
      <p:sp>
        <p:nvSpPr>
          <p:cNvPr id="23" name="AutoShape 7"/>
          <p:cNvSpPr/>
          <p:nvPr>
            <p:custDataLst>
              <p:tags r:id="rId6"/>
            </p:custDataLst>
          </p:nvPr>
        </p:nvSpPr>
        <p:spPr>
          <a:xfrm>
            <a:off x="6159500" y="201422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标准化维修作业支撑</a:t>
            </a:r>
            <a:endParaRPr lang="en-US" sz="1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8"/>
          <p:cNvSpPr/>
          <p:nvPr>
            <p:custDataLst>
              <p:tags r:id="rId7"/>
            </p:custDataLst>
          </p:nvPr>
        </p:nvSpPr>
        <p:spPr>
          <a:xfrm>
            <a:off x="5588000" y="267462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自动调取标准作业卡与指导书，联动HSE系统办理票证；协助生成工单与备件需求，智能查询库存与调配路径；维修完成后自动更新知识库与IMS机组履历，实现作业全流程闭环管理。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8000" y="4325620"/>
            <a:ext cx="355600" cy="355600"/>
          </a:xfrm>
          <a:prstGeom prst="rect">
            <a:avLst/>
          </a:prstGeom>
        </p:spPr>
      </p:pic>
      <p:sp>
        <p:nvSpPr>
          <p:cNvPr id="29" name="AutoShape 10"/>
          <p:cNvSpPr/>
          <p:nvPr>
            <p:custDataLst>
              <p:tags r:id="rId10"/>
            </p:custDataLst>
          </p:nvPr>
        </p:nvSpPr>
        <p:spPr>
          <a:xfrm>
            <a:off x="6159500" y="430022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运维知识库自进化体系</a:t>
            </a:r>
            <a:endParaRPr lang="en-US" sz="1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1"/>
          <p:cNvSpPr/>
          <p:nvPr>
            <p:custDataLst>
              <p:tags r:id="rId11"/>
            </p:custDataLst>
          </p:nvPr>
        </p:nvSpPr>
        <p:spPr>
          <a:xfrm>
            <a:off x="5588000" y="483362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构建振动、工艺、故障多维度高质量数据集，建立“一机一档”全生命周期档案；每一次故障处理经验自动沉淀为故障案例库养料，驱动AI诊断模型持续迭代优化，实现系统能力的自我进化。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Docer搜索：半想象现实   http://chn.docer.com/works/?userid=199927538"/>
          <p:cNvSpPr txBox="1"/>
          <p:nvPr/>
        </p:nvSpPr>
        <p:spPr>
          <a:xfrm>
            <a:off x="648335" y="151765"/>
            <a:ext cx="51257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34" name="图片 33" descr="诊断频谱数据"/>
          <p:cNvPicPr>
            <a:picLocks noChangeAspect="1"/>
          </p:cNvPicPr>
          <p:nvPr/>
        </p:nvPicPr>
        <p:blipFill>
          <a:blip r:embed="rId12"/>
          <a:srcRect l="17993" t="8716"/>
          <a:stretch>
            <a:fillRect/>
          </a:stretch>
        </p:blipFill>
        <p:spPr>
          <a:xfrm>
            <a:off x="322580" y="2503805"/>
            <a:ext cx="4886325" cy="280543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96583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业务流程：泵机组集中监测诊断管理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604000" y="16510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1879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302500" y="18542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全维感知与智能诊断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110">
            <a:off x="6858009" y="2343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858000" y="2476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依托智能体与大模型技术，实现设备数据实时采集，通过算法模型自动识别异常并生成诊断建议，大幅提升故障预判准确率。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35560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3784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500" y="37592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工单流转与知识闭环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0110">
            <a:off x="6858009" y="4248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858000" y="4381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诊断结果自动触发工单流转，驱动维修作业精准执行；维修数据与经验同步回传至知识库，持续优化模型，形成管理闭环。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613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该流程通过自动化与智能化手段，打通了设备状态监测、故障诊断、维修处置到知识复用的全链路，有效降低运维成本，保障泵机组安全稳定运行，实现了设备管理的数字化升级。</a:t>
            </a:r>
            <a:endParaRPr lang="en-US" sz="1100"/>
          </a:p>
        </p:txBody>
      </p:sp>
      <p:pic>
        <p:nvPicPr>
          <p:cNvPr id="17" name="图片 1" descr="3.输油泵智能运维管理-01泵机组集中监测诊断管理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645920"/>
            <a:ext cx="5548630" cy="3560445"/>
          </a:xfrm>
          <a:prstGeom prst="rect">
            <a:avLst/>
          </a:prstGeom>
        </p:spPr>
      </p:pic>
      <p:sp>
        <p:nvSpPr>
          <p:cNvPr id="18" name="Docer搜索：半想象现实   http://chn.docer.com/works/?userid=199927538"/>
          <p:cNvSpPr txBox="1"/>
          <p:nvPr/>
        </p:nvSpPr>
        <p:spPr>
          <a:xfrm>
            <a:off x="648335" y="151765"/>
            <a:ext cx="51257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62000" y="118999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2245995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>
              <a:solidFill>
                <a:schemeClr val="bg1"/>
              </a:solidFill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436495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239839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首创“三链融合”AI原生架构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9549">
            <a:off x="1079509" y="2938145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79500" y="3071495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重塑业务链、闭环数据链、贯通角色链，打通数据与业务的深层壁垒，实现工业设备运维从传统“被动维修”到智能化“预测运维”的根本性范式转变。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245995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>
              <a:solidFill>
                <a:schemeClr val="bg1"/>
              </a:solidFill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2436495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239839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多维度融合诊断技术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9549">
            <a:off x="6667509" y="2938145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67500" y="3071495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突破传统单一监测模式的局限，融合振动频谱、温度、压力、电流等多维物理信号，构建全方位设备画像，实现对设备内部健康状况的精准“透视”与隐患定位。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531995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>
              <a:solidFill>
                <a:schemeClr val="bg1"/>
              </a:solidFill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722495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68439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可进化的监测诊断模型体系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9549">
            <a:off x="1079509" y="5224145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79500" y="5357495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统筹开发早期预警和本体异常检测模型，依托典型故障特征库的持续迭代与丰富，让AI模型具备自我学习、自我进化的能力，诊断精度随数据积累不断提升。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0" y="4531995"/>
            <a:ext cx="50800" cy="190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b="1">
              <a:solidFill>
                <a:schemeClr val="bg1"/>
              </a:solidFill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4722495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75500" y="468439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三级闭环管控与知识沉淀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9549">
            <a:off x="6667509" y="5224145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667500" y="5357495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构建“诊断预警→实时监视→现场执行”三级联动体系，达成“一点报警、全网防范”的高效协同；同时将运维经验与处置方案自动沉淀为可复用的知识资产。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Docer搜索：半想象现实   http://chn.docer.com/works/?userid=199927538"/>
          <p:cNvSpPr txBox="1"/>
          <p:nvPr/>
        </p:nvSpPr>
        <p:spPr>
          <a:xfrm>
            <a:off x="648335" y="151765"/>
            <a:ext cx="51257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0" y="1016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创新优势：多维度融合诊断技术</a:t>
            </a:r>
            <a:endParaRPr lang="en-US" sz="2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0" y="20574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0" y="22479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94500" y="21844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技术突破：打破传统监测局限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彻底突破了传统方案中单一依赖温度、振动幅值的监测模式，从根源上解决了单参数判断的片面性与滞后性问题。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35179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6500" y="37084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94500" y="36449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融合分析：多维信号综合研判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同步融合振动频谱、温度、压力、电流等关键多维信号，通过多源数据的交叉比对与关联分析，构建全方位设备状态画像。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0" y="49784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6500" y="51689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94500" y="51054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诊断效果：透视设备健康全貌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实现对输油泵本体异常的精准检测和故障早期识别，让运维人员能够直观“透视”设备内部状态，将被动维修转变为主动预防。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Docer搜索：半想象现实   http://chn.docer.com/works/?userid=199927538"/>
          <p:cNvSpPr txBox="1"/>
          <p:nvPr/>
        </p:nvSpPr>
        <p:spPr>
          <a:xfrm>
            <a:off x="648335" y="151765"/>
            <a:ext cx="51257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245" y="1971040"/>
            <a:ext cx="2308860" cy="10369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245" y="3474720"/>
            <a:ext cx="2321560" cy="11036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245" y="5122545"/>
            <a:ext cx="2354580" cy="111569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0240" y="2698750"/>
            <a:ext cx="2442845" cy="116586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90240" y="4445000"/>
            <a:ext cx="2442210" cy="11537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创新优势：三级闭环管控与知识沉淀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20850"/>
            <a:ext cx="5080000" cy="1524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1135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2405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三级监控体系，联动高效响应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5585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构建“储运技术公司诊断预警 → 区域监视中心实时监视 → 作业区现场执行”的三级联动体系，实现层级清晰、权责明确的监控闭环。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98850"/>
            <a:ext cx="5080000" cy="1524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8935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70205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一点报警，全网防范闭环处置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13385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实现“一点报警、全网防范”的快速响应机制，确保任何预警信息都能被及时捕捉、快速流转并有效处置，杜绝安全隐患的遗漏。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149850"/>
            <a:ext cx="5080000" cy="1270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34035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35305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专家经验显性化，资产化沉淀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78485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故障排查过程自动汇入知识库与IMS系统，将隐性专家经验转化为集团级知识资产，赋能能力持续迭代。</a:t>
            </a:r>
            <a:endParaRPr lang="en-US" sz="1100"/>
          </a:p>
        </p:txBody>
      </p:sp>
      <p:sp>
        <p:nvSpPr>
          <p:cNvPr id="2" name="Docer搜索：半想象现实   http://chn.docer.com/works/?userid=199927538"/>
          <p:cNvSpPr txBox="1"/>
          <p:nvPr/>
        </p:nvSpPr>
        <p:spPr>
          <a:xfrm>
            <a:off x="648335" y="151765"/>
            <a:ext cx="51257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核心技术与创新优势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1155" y="1721485"/>
            <a:ext cx="4535805" cy="4699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5</a:t>
              </a:r>
              <a:endParaRPr lang="en-US" altLang="zh-CN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8"/>
          <p:cNvSpPr/>
          <p:nvPr/>
        </p:nvSpPr>
        <p:spPr>
          <a:xfrm>
            <a:off x="4650105" y="296926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价值成效与应用前景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34365" y="142240"/>
            <a:ext cx="57016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价值成效与应用前景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62000" y="109601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价值成效：多维度价值分析</a:t>
            </a:r>
            <a:endParaRPr lang="en-US" sz="3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8181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经济价值：降本、提效、避险</a:t>
            </a:r>
            <a:endParaRPr lang="en-US" sz="1800" b="1" i="0" u="none" strike="noStrike">
              <a:solidFill>
                <a:schemeClr val="accent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54381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305181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故障响应时间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49631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↓75%</a:t>
            </a:r>
            <a:b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2小时 缩短至 0.5小时，大幅提升应急效率。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6000" y="254381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556000" y="305181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维检修成本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556000" y="349631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↓10%+</a:t>
            </a:r>
            <a:b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优化资源配置与作业流程，实现年均成本显著降低。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254381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350000" y="305181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全流程响应速度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349631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↑50%+</a:t>
            </a:r>
            <a:b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打通各环节信息壁垒，实现业务流转的高效协同。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0" y="254381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3051810"/>
            <a:ext cx="228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标准化作业覆盖</a:t>
            </a:r>
            <a:endParaRPr lang="en-US" sz="14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144000" y="349631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b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规范作业流程与操作标准，确保执行层面的一致性。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482346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508381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安全管理价值：从“救火”到“预防”</a:t>
            </a:r>
            <a:endParaRPr lang="en-US" sz="1800" b="1" i="0" u="none" strike="noStrike">
              <a:solidFill>
                <a:schemeClr val="accent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571881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71881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风险前置：源头规避安全事件</a:t>
            </a:r>
            <a:b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构建早期预警与智能诊断双重防线，将被动应对转变为主动预防，从根本上消除隐患，保障生产运行安全。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571881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571881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过程可控：全流程可追溯闭环</a:t>
            </a:r>
            <a:b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通过标准化作业与HSE系统深度联动，实现作业全流程的实时监控与数据留痕，确保每一步操作合规、可查。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19100" y="1320165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价值成效：管理与社会价值</a:t>
            </a:r>
            <a:endParaRPr lang="en-US" sz="28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235458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794500" y="232918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管理价值：统一标准，沉淀能力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8594">
            <a:off x="6350008" y="285623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0" y="305308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统一全集团输油泵管控标准，将波形数据接入率提升至20%以上；通过IMS系统实现全生命周期数据贯通，并沉淀集团级故障特征库与运维知识库，筑牢管理根基。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476758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94500" y="474218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社会价值：保障能源安全，引领升级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8594">
            <a:off x="6350008" y="526923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350000" y="546608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以AI全域风险管控保障成品油与原油管网稳定运行，守护国家能源大动脉；形成的标准化解决方案可全行业推广复用，为能源行业智能化转型提供可复制的实践样板。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Docer搜索：半想象现实   http://chn.docer.com/works/?userid=199927538"/>
          <p:cNvSpPr txBox="1"/>
          <p:nvPr/>
        </p:nvSpPr>
        <p:spPr>
          <a:xfrm>
            <a:off x="634365" y="142240"/>
            <a:ext cx="57016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价值成效与应用前景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14" name="图片 13" descr="10.巡检标准化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" y="2591435"/>
            <a:ext cx="5494655" cy="349313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推广思路与市场前景</a:t>
            </a:r>
            <a:endParaRPr lang="en-US" sz="3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549400" y="2438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 试点验证 (2026年)</a:t>
            </a:r>
            <a:endParaRPr lang="en-US" sz="16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3238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依托已有128台机组接入基础，完成核心功能验证，打磨成熟的智能运维范式，为后续推广奠定坚实基础。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168900" y="2438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 区域推广 (2027年)</a:t>
            </a:r>
            <a:endParaRPr lang="en-US" sz="16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635500" y="3238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逐步推进各区域公司输油泵数据接入，优化算法模型，力争实现振动波形数据接入率提升至20%以上。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41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788400" y="2438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 集团普及 (2028+)</a:t>
            </a:r>
            <a:endParaRPr lang="en-US" sz="16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255000" y="3238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形成标准化故障知识库并纳入IMS系统，全面覆盖集团所有输油设备，打造行业输油泵智能运维管理的标杆示范。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143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1562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内部市场：存量设备直接应用</a:t>
            </a:r>
            <a:endParaRPr lang="en-US" sz="16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9167">
            <a:off x="1016008" y="5645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778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集团公司现有1558台在役主泵是方案的直接应用对象，市场基数大，需求明确且迫切，能快速转化为实际价值。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5143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51562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外部市场：跨行业场景拓展</a:t>
            </a:r>
            <a:endParaRPr lang="en-US" sz="16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-9167">
            <a:off x="6413508" y="5645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13500" y="5778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方案具备通用性，可推广至其他油气管道公司、石化企业、发电厂等拥有大型旋转设备的行业，市场应用空间广阔。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Docer搜索：半想象现实   http://chn.docer.com/works/?userid=199927538"/>
          <p:cNvSpPr txBox="1"/>
          <p:nvPr/>
        </p:nvSpPr>
        <p:spPr>
          <a:xfrm>
            <a:off x="634365" y="142240"/>
            <a:ext cx="57016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价值成效与应用前景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1633" y="2597158"/>
            <a:ext cx="6606755" cy="2532692"/>
            <a:chOff x="5209763" y="1917001"/>
            <a:chExt cx="6606755" cy="2532692"/>
          </a:xfrm>
        </p:grpSpPr>
        <p:sp>
          <p:nvSpPr>
            <p:cNvPr id="2" name="文本框 1"/>
            <p:cNvSpPr txBox="1"/>
            <p:nvPr/>
          </p:nvSpPr>
          <p:spPr>
            <a:xfrm>
              <a:off x="6591465" y="1917001"/>
              <a:ext cx="1740309" cy="1861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6</a:t>
              </a:r>
              <a:endParaRPr lang="en-US" altLang="zh-CN" sz="1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 descr="7b0a20202020227461726765744964223a202270726f636573734f6e6c696e65576f7264417274220a7d0a"/>
            <p:cNvSpPr txBox="1"/>
            <p:nvPr/>
          </p:nvSpPr>
          <p:spPr>
            <a:xfrm>
              <a:off x="5209763" y="2848025"/>
              <a:ext cx="1638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PART </a:t>
              </a:r>
              <a:endPara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02053" y="3657213"/>
              <a:ext cx="6514465" cy="79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  <p:cxnSp>
          <p:nvCxnSpPr>
            <p:cNvPr id="5" name="直线连接符 4"/>
            <p:cNvCxnSpPr/>
            <p:nvPr/>
          </p:nvCxnSpPr>
          <p:spPr>
            <a:xfrm>
              <a:off x="5302053" y="3575212"/>
              <a:ext cx="5648262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8"/>
          <p:cNvSpPr/>
          <p:nvPr/>
        </p:nvSpPr>
        <p:spPr>
          <a:xfrm>
            <a:off x="4650105" y="296926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  <a:endParaRPr lang="en-US" sz="4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cer搜索：半想象现实   http://chn.docer.com/works/?userid=199927538"/>
          <p:cNvSpPr txBox="1"/>
          <p:nvPr/>
        </p:nvSpPr>
        <p:spPr>
          <a:xfrm>
            <a:off x="648335" y="210820"/>
            <a:ext cx="1876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团队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黑体" panose="02010600040101010101" charset="-122"/>
              </a:rPr>
              <a:t>介绍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黑体" panose="0201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89862" l="8911" r="90759">
                        <a14:foregroundMark x1="24422" y1="26498" x2="24422" y2="26498"/>
                        <a14:foregroundMark x1="27228" y1="43548" x2="27228" y2="43548"/>
                        <a14:foregroundMark x1="27558" y1="58756" x2="27558" y2="58756"/>
                        <a14:foregroundMark x1="26733" y1="77650" x2="26733" y2="77650"/>
                        <a14:foregroundMark x1="8911" y1="61982" x2="8911" y2="61982"/>
                        <a14:foregroundMark x1="59571" y1="25115" x2="59571" y2="25115"/>
                        <a14:foregroundMark x1="59241" y1="32949" x2="59241" y2="32949"/>
                        <a14:foregroundMark x1="62541" y1="38018" x2="62541" y2="38018"/>
                        <a14:foregroundMark x1="41419" y1="28341" x2="41419" y2="28341"/>
                        <a14:foregroundMark x1="45215" y1="31567" x2="45215" y2="31567"/>
                        <a14:foregroundMark x1="81353" y1="28341" x2="81353" y2="28341"/>
                        <a14:foregroundMark x1="72277" y1="65668" x2="72277" y2="65668"/>
                        <a14:foregroundMark x1="78383" y1="67972" x2="78383" y2="67972"/>
                        <a14:foregroundMark x1="78548" y1="61521" x2="78548" y2="61521"/>
                        <a14:foregroundMark x1="80858" y1="68433" x2="80858" y2="68433"/>
                        <a14:foregroundMark x1="90759" y1="66590" x2="90759" y2="66590"/>
                        <a14:foregroundMark x1="66172" y1="62442" x2="66172" y2="62442"/>
                        <a14:foregroundMark x1="61221" y1="67512" x2="61221" y2="67512"/>
                        <a14:foregroundMark x1="52145" y1="69816" x2="52145" y2="69816"/>
                        <a14:foregroundMark x1="49010" y1="68433" x2="49010" y2="68433"/>
                        <a14:foregroundMark x1="42409" y1="62442" x2="42409" y2="62442"/>
                        <a14:foregroundMark x1="48515" y1="60599" x2="48515" y2="60599"/>
                        <a14:foregroundMark x1="70627" y1="26959" x2="70627" y2="26959"/>
                        <a14:foregroundMark x1="20792" y1="15899" x2="20792" y2="15899"/>
                        <a14:foregroundMark x1="21782" y1="14977" x2="21782" y2="14977"/>
                        <a14:backgroundMark x1="44142" y1="34332" x2="44142" y2="34332"/>
                        <a14:backgroundMark x1="48515" y1="33871" x2="48515" y2="33871"/>
                        <a14:backgroundMark x1="46947" y1="41935" x2="46947" y2="41935"/>
                        <a14:backgroundMark x1="49175" y1="47926" x2="49175" y2="47926"/>
                        <a14:backgroundMark x1="43812" y1="47465" x2="43812" y2="47465"/>
                        <a14:backgroundMark x1="44307" y1="65438" x2="44307" y2="65438"/>
                        <a14:backgroundMark x1="59983" y1="68433" x2="59983" y2="68433"/>
                        <a14:backgroundMark x1="89274" y1="73502" x2="89274" y2="73502"/>
                        <a14:backgroundMark x1="86304" y1="38249" x2="86304" y2="38249"/>
                        <a14:backgroundMark x1="71700" y1="28802" x2="71700" y2="28802"/>
                        <a14:backgroundMark x1="75083" y1="29954" x2="75083" y2="29954"/>
                        <a14:backgroundMark x1="68977" y1="29954" x2="68977" y2="29954"/>
                        <a14:backgroundMark x1="73267" y1="35023" x2="73267" y2="35023"/>
                        <a14:backgroundMark x1="74175" y1="39631" x2="74175" y2="39631"/>
                        <a14:backgroundMark x1="71700" y1="35253" x2="71700" y2="35253"/>
                        <a14:backgroundMark x1="72855" y1="48387" x2="72855" y2="48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139"/>
          <a:stretch>
            <a:fillRect/>
          </a:stretch>
        </p:blipFill>
        <p:spPr>
          <a:xfrm>
            <a:off x="11152505" y="0"/>
            <a:ext cx="1009015" cy="885190"/>
          </a:xfrm>
          <a:prstGeom prst="rect">
            <a:avLst/>
          </a:prstGeom>
        </p:spPr>
      </p:pic>
      <p:cxnSp>
        <p:nvCxnSpPr>
          <p:cNvPr id="27" name="Straight Connector 4"/>
          <p:cNvCxnSpPr>
            <a:cxnSpLocks noChangeShapeType="1"/>
          </p:cNvCxnSpPr>
          <p:nvPr userDrawn="1"/>
        </p:nvCxnSpPr>
        <p:spPr bwMode="auto">
          <a:xfrm flipV="1">
            <a:off x="0" y="908050"/>
            <a:ext cx="12194857" cy="12700"/>
          </a:xfrm>
          <a:prstGeom prst="line">
            <a:avLst/>
          </a:prstGeom>
          <a:noFill/>
          <a:ln w="12700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矩形 5"/>
          <p:cNvSpPr>
            <a:spLocks noChangeArrowheads="1"/>
          </p:cNvSpPr>
          <p:nvPr userDrawn="1"/>
        </p:nvSpPr>
        <p:spPr bwMode="auto">
          <a:xfrm>
            <a:off x="0" y="333375"/>
            <a:ext cx="352553" cy="400050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1" name="矩形 6"/>
          <p:cNvSpPr>
            <a:spLocks noChangeArrowheads="1"/>
          </p:cNvSpPr>
          <p:nvPr userDrawn="1"/>
        </p:nvSpPr>
        <p:spPr bwMode="auto">
          <a:xfrm>
            <a:off x="419253" y="333375"/>
            <a:ext cx="123870" cy="400050"/>
          </a:xfrm>
          <a:prstGeom prst="rect">
            <a:avLst/>
          </a:pr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3435" y="1034415"/>
            <a:ext cx="93319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ClrTx/>
              <a:buSzTx/>
              <a:buFontTx/>
              <a:buNone/>
              <a:defRPr sz="1050" b="1">
                <a:solidFill>
                  <a:srgbClr val="6481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复合团队覆盖业务需求、算法研发、平台开发、试点落地全链条</a:t>
            </a:r>
            <a:endParaRPr sz="2400" b="1">
              <a:solidFill>
                <a:schemeClr val="accent2">
                  <a:lumMod val="40000"/>
                  <a:lumOff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23900" y="1645920"/>
            <a:ext cx="10382250" cy="990600"/>
          </a:xfrm>
          <a:prstGeom prst="roundRect">
            <a:avLst>
              <a:gd name="adj" fmla="val 7692"/>
            </a:avLst>
          </a:prstGeom>
          <a:solidFill>
            <a:srgbClr val="E8F3FF"/>
          </a:solidFill>
          <a:ln w="9525">
            <a:solidFill>
              <a:srgbClr val="B8D2F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193103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管网数智先锋队</a:t>
            </a:r>
            <a:endParaRPr sz="2400" b="1">
              <a:solidFill>
                <a:srgbClr val="082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19145" y="1699895"/>
            <a:ext cx="7787005" cy="937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724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75" b="1">
                <a:solidFill>
                  <a:srgbClr val="1724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参赛团队采用“业务+技术”双向融合组建，成员涵盖生产管理专家、输油泵运维一线业务骨干、数字化业务骨干，深度理解集团输油泵智能运维管理现状与业务重塑要求，熟练掌握关键设备智能监测平台、</a:t>
            </a:r>
            <a:r>
              <a:rPr lang="en-US" altLang="zh-CN" sz="1575" b="1">
                <a:solidFill>
                  <a:srgbClr val="1724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IMS</a:t>
            </a:r>
            <a:r>
              <a:rPr lang="zh-CN" altLang="en-US" sz="1575" b="1">
                <a:solidFill>
                  <a:srgbClr val="1724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系统等集团核心数字化平台。</a:t>
            </a:r>
            <a:endParaRPr lang="zh-CN" altLang="en-US" sz="1575" b="1">
              <a:solidFill>
                <a:srgbClr val="1724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23900" y="307467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5F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52500" y="328422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肖伟</a:t>
            </a:r>
            <a:endParaRPr lang="zh-CN" altLang="en-US" sz="1800" b="1">
              <a:solidFill>
                <a:srgbClr val="00A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943100" y="330327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项目负责人</a:t>
            </a:r>
            <a:endParaRPr sz="1275" b="1">
              <a:solidFill>
                <a:srgbClr val="082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52500" y="372237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统筹方案、场景流程梳理、申报材料统筹</a:t>
            </a:r>
            <a:r>
              <a:rPr lang="zh-CN" sz="1275" b="0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275" b="0">
              <a:solidFill>
                <a:srgbClr val="5D6B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200525" y="307467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5F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429125" y="328422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程青青</a:t>
            </a:r>
            <a:endParaRPr lang="zh-CN" altLang="en-US" sz="1800" b="1">
              <a:solidFill>
                <a:srgbClr val="00A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419725" y="330327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</a:t>
            </a:r>
            <a:r>
              <a:rPr lang="zh-CN"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</a:t>
            </a:r>
            <a:r>
              <a:rPr lang="zh-CN"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骨干</a:t>
            </a:r>
            <a:endParaRPr lang="zh-CN" sz="1275" b="1">
              <a:solidFill>
                <a:srgbClr val="082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429125" y="372237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深耕油气管道数字化、智能化领域多年，提供数字化业务</a:t>
            </a:r>
            <a:r>
              <a:rPr lang="zh-CN" altLang="en-US" sz="1275" b="0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攻关。</a:t>
            </a:r>
            <a:endParaRPr lang="zh-CN" altLang="en-US" sz="1275" b="0">
              <a:solidFill>
                <a:srgbClr val="5D6B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677150" y="307467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5F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905750" y="328422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王佳</a:t>
            </a:r>
            <a:endParaRPr lang="zh-CN" altLang="en-US" sz="1800" b="1">
              <a:solidFill>
                <a:srgbClr val="00A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896350" y="323469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IMS</a:t>
            </a:r>
            <a:r>
              <a:rPr lang="zh-CN" altLang="en-US"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项目组</a:t>
            </a:r>
            <a:endParaRPr lang="zh-CN" altLang="en-US" sz="1275" b="1">
              <a:solidFill>
                <a:srgbClr val="082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资深项目经理</a:t>
            </a:r>
            <a:endParaRPr lang="zh-CN" altLang="en-US" sz="1275" b="1">
              <a:solidFill>
                <a:srgbClr val="082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905750" y="3722370"/>
            <a:ext cx="26485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 algn="l">
              <a:lnSpc>
                <a:spcPct val="108000"/>
              </a:lnSpc>
            </a:pPr>
            <a:r>
              <a:rPr sz="1275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链接智网数科产品能力与储运核心业务，夯实技术落地的业务基础。</a:t>
            </a:r>
            <a:endParaRPr sz="1275" b="0">
              <a:solidFill>
                <a:srgbClr val="5D6B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圆角矩形 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23900" y="477012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5F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52500" y="497967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刘白杨</a:t>
            </a:r>
            <a:endParaRPr lang="zh-CN" altLang="en-US" sz="1800" b="1">
              <a:solidFill>
                <a:srgbClr val="00A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1786890" y="4998720"/>
            <a:ext cx="18840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储运技术公司业务骨干</a:t>
            </a:r>
            <a:endParaRPr lang="zh-CN" altLang="en-US" sz="1275" b="1">
              <a:solidFill>
                <a:srgbClr val="082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52500" y="541782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275" b="0">
              <a:solidFill>
                <a:srgbClr val="5D6B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4200525" y="477012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5F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4429125" y="497967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00A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雷雨</a:t>
            </a:r>
            <a:endParaRPr lang="zh-CN" altLang="en-US" sz="1800" b="1">
              <a:solidFill>
                <a:srgbClr val="00A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5163185" y="4998720"/>
            <a:ext cx="182816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sym typeface="Noto Sans SC" panose="020B0200000000000000" charset="-122"/>
              </a:rPr>
              <a:t>机械设备领域业务专家</a:t>
            </a:r>
            <a:endParaRPr sz="1275" b="1">
              <a:solidFill>
                <a:srgbClr val="082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4429125" y="541782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75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机械设备管理，提供专业领域的业务指导与技术把关。</a:t>
            </a:r>
            <a:endParaRPr sz="1275" b="0">
              <a:solidFill>
                <a:srgbClr val="5D6B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23900" y="619887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082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保障项目方案可落地、可迭代、可复制</a:t>
            </a:r>
            <a:endParaRPr sz="1875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52500" y="5417820"/>
            <a:ext cx="26485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marL="0" indent="0" algn="l">
              <a:lnSpc>
                <a:spcPct val="108000"/>
              </a:lnSpc>
            </a:pPr>
            <a:r>
              <a:rPr lang="zh-CN" altLang="en-US" sz="1275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关键设备智能监测平台建设，</a:t>
            </a:r>
            <a:r>
              <a:rPr sz="1275">
                <a:solidFill>
                  <a:srgbClr val="5D6B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夯实技术落地的业务基础。</a:t>
            </a:r>
            <a:endParaRPr sz="1275" b="0">
              <a:solidFill>
                <a:srgbClr val="5D6B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cer搜索：半想象现实   http://chn.docer.com/works/?userid=199927538"/>
          <p:cNvSpPr txBox="1"/>
          <p:nvPr/>
        </p:nvSpPr>
        <p:spPr>
          <a:xfrm>
            <a:off x="0" y="0"/>
            <a:ext cx="12192000" cy="68573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数字化让国家管网与众不同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Digital Transformation Makes PipeChina Unique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-218440" y="57785"/>
            <a:ext cx="2402840" cy="779780"/>
            <a:chOff x="136" y="363"/>
            <a:chExt cx="3784" cy="122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>
              <a:fillRect/>
            </a:stretch>
          </p:blipFill>
          <p:spPr>
            <a:xfrm>
              <a:off x="136" y="363"/>
              <a:ext cx="2172" cy="119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4" b="654"/>
            <a:stretch>
              <a:fillRect/>
            </a:stretch>
          </p:blipFill>
          <p:spPr>
            <a:xfrm>
              <a:off x="1752" y="541"/>
              <a:ext cx="2168" cy="10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2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3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4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5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6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7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8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9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10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11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12.xml><?xml version="1.0" encoding="utf-8"?>
<p:tagLst xmlns:p="http://schemas.openxmlformats.org/presentationml/2006/main">
  <p:tag name="KSO_WM_DIAGRAM_VIRTUALLY_FRAME" val="{&quot;height&quot;:345.00144927231395,&quot;left&quot;:60,&quot;top&quot;:149.99998402526035,&quot;width&quot;:834.55}"/>
</p:tagLst>
</file>

<file path=ppt/tags/tag13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14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15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16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17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18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19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20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21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22.xml><?xml version="1.0" encoding="utf-8"?>
<p:tagLst xmlns:p="http://schemas.openxmlformats.org/presentationml/2006/main">
  <p:tag name="KSO_WM_DIAGRAM_VIRTUALLY_FRAME" val="{&quot;height&quot;:360,&quot;left&quot;:45,&quot;top&quot;:150,&quot;width&quot;:875}"/>
</p:tagLst>
</file>

<file path=ppt/tags/tag23.xml><?xml version="1.0" encoding="utf-8"?>
<p:tagLst xmlns:p="http://schemas.openxmlformats.org/presentationml/2006/main">
  <p:tag name="KSO_WM_DIAGRAM_VIRTUALLY_FRAME" val="{&quot;height&quot;:322,&quot;left&quot;:26.85,&quot;top&quot;:188,&quot;width&quot;:878.15}"/>
</p:tagLst>
</file>

<file path=ppt/tags/tag24.xml><?xml version="1.0" encoding="utf-8"?>
<p:tagLst xmlns:p="http://schemas.openxmlformats.org/presentationml/2006/main">
  <p:tag name="KSO_WM_DIAGRAM_VIRTUALLY_FRAME" val="{&quot;height&quot;:322,&quot;left&quot;:26.85,&quot;top&quot;:188,&quot;width&quot;:878.15}"/>
</p:tagLst>
</file>

<file path=ppt/tags/tag25.xml><?xml version="1.0" encoding="utf-8"?>
<p:tagLst xmlns:p="http://schemas.openxmlformats.org/presentationml/2006/main">
  <p:tag name="KSO_WM_DIAGRAM_VIRTUALLY_FRAME" val="{&quot;height&quot;:322,&quot;left&quot;:26.85,&quot;top&quot;:188,&quot;width&quot;:878.15}"/>
</p:tagLst>
</file>

<file path=ppt/tags/tag26.xml><?xml version="1.0" encoding="utf-8"?>
<p:tagLst xmlns:p="http://schemas.openxmlformats.org/presentationml/2006/main">
  <p:tag name="KSO_WM_DIAGRAM_VIRTUALLY_FRAME" val="{&quot;height&quot;:322,&quot;left&quot;:26.85,&quot;top&quot;:188,&quot;width&quot;:878.15}"/>
</p:tagLst>
</file>

<file path=ppt/tags/tag27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28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29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0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1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2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3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4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5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6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7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8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39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0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1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2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3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4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5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6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ags/tag47.xml><?xml version="1.0" encoding="utf-8"?>
<p:tagLst xmlns:p="http://schemas.openxmlformats.org/presentationml/2006/main">
  <p:tag name="KSO_WM_DIAGRAM_VIRTUALLY_FRAME" val="{&quot;height&quot;:231,&quot;left&quot;:57,&quot;top&quot;:242.1,&quot;width&quot;:787.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5988</Words>
  <Application>WPS 演示</Application>
  <PresentationFormat>宽屏</PresentationFormat>
  <Paragraphs>427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华文黑体</vt:lpstr>
      <vt:lpstr>黑体</vt:lpstr>
      <vt:lpstr>微软雅黑</vt:lpstr>
      <vt:lpstr>Noto Sans SC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airbookpro</dc:creator>
  <cp:lastModifiedBy>程青青</cp:lastModifiedBy>
  <cp:revision>66</cp:revision>
  <dcterms:created xsi:type="dcterms:W3CDTF">2026-03-13T03:38:00Z</dcterms:created>
  <dcterms:modified xsi:type="dcterms:W3CDTF">2026-06-30T07:47:37Z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2052-12.8.2.19315</vt:lpwstr>
  </property>
  <property fmtid="{D5CDD505-2E9C-101B-9397-08002B2CF9AE}" pid="3" name="KSOTemplateUUID">
    <vt:lpwstr>v1.0_mb_XVb3N1UkD7fPUFnq8IGCug==</vt:lpwstr>
  </property>
  <property fmtid="{D5CDD505-2E9C-101B-9397-08002B2CF9AE}" pid="4" name="ICV">
    <vt:lpwstr>099D6D814EC7470290ABAF9329914B64_13</vt:lpwstr>
  </property>
  <property fmtid="{D5CDD505-2E9C-101B-9397-08002B2CF9AE}" pid="5" name="EagleCloud">
    <vt:lpwstr>61676334b4e8422151e43967553014381f5e06876ebe2bbce66cedec39aecaac9e60da91a32bcea9066488722440b91e3349bb81254460c474b49c13f5516b5a39364240fb3cb2ed3f5b47b5a74b7b514fe5ad65986e278eb3388b4572c21524f5a6e3a43b2135e5138a198dc314c333c661013fb4632f4f7703c86241caf97</vt:lpwstr>
  </property>
  <property fmtid="{D5CDD505-2E9C-101B-9397-08002B2CF9AE}" pid="6" name="EagleCloud1">
    <vt:lpwstr>b025792f49aa3f180801c46814781ae53fb5bd39660972011dcbf88235880701a34ce3b0acc77f63219d8d86a637d176bafab009603913458f4e5ee86c9f8be7164e5d992716ced85027213bc9f1340924153375a0a5f4d2f5be1c664991678a09893dbfda50891ba6443ccc59993509fb6193b99a32ff079b4c5505bc357e5</vt:lpwstr>
  </property>
  <property fmtid="{D5CDD505-2E9C-101B-9397-08002B2CF9AE}" pid="7" name="EagleCloud2">
    <vt:lpwstr>6867f98f72298f9550a24f5cff7b96522edf99d503c8e36ff388921fdec91c3e06d877fcf935121d13b2753e07aa566b14950616a471c2cf18889e615ca4d98b61f1cfc5df6d255e6f9bd3f8cdeee49e8e706b5589ed11a23d0517eb61f58b1551955874220c2ff3b31c74a0706269240d0ecfe298ed314a4fea24a10aa02c5</vt:lpwstr>
  </property>
  <property fmtid="{D5CDD505-2E9C-101B-9397-08002B2CF9AE}" pid="8" name="EagleCloud3">
    <vt:lpwstr>c26</vt:lpwstr>
  </property>
</Properties>
</file>